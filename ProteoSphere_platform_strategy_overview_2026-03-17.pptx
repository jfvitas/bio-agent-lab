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2B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ide310x150Logo.scale-2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30352"/>
            <a:ext cx="2468880" cy="1194619"/>
          </a:xfrm>
          <a:prstGeom prst="rect">
            <a:avLst/>
          </a:prstGeom>
        </p:spPr>
      </p:pic>
      <p:pic>
        <p:nvPicPr>
          <p:cNvPr id="4" name="Picture 3" descr="Square150x150Logo.scale-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475488"/>
            <a:ext cx="960120" cy="960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13716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BFC6"/>
                </a:solidFill>
                <a:latin typeface="Aptos"/>
              </a:rPr>
              <a:t>PROTEOSPHERE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136"/>
                </a:solidFill>
                <a:latin typeface="Aptos"/>
              </a:rPr>
              <a:t>A protein intelligence platform for building trustworthy biological ML datasets and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97480"/>
            <a:ext cx="80467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606B78"/>
                </a:solidFill>
                <a:latin typeface="Aptos"/>
              </a:rPr>
              <a:t>ProteoSphere is designed to overcome the limits of small, fragile, siloed protein-ML studies by unifying source packaging, curation, leakage-resistant dataset design, graph-aware modeling, and an intuitive desktop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590288"/>
            <a:ext cx="1965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4590288"/>
            <a:ext cx="1965960" cy="73152"/>
          </a:xfrm>
          <a:prstGeom prst="rect">
            <a:avLst/>
          </a:prstGeom>
          <a:solidFill>
            <a:srgbClr val="12B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754880"/>
            <a:ext cx="167335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BFC6"/>
                </a:solidFill>
                <a:latin typeface="Aptos"/>
              </a:rPr>
              <a:t>READY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992624"/>
            <a:ext cx="16733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22136"/>
                </a:solidFill>
                <a:latin typeface="Aptos"/>
              </a:rPr>
              <a:t>12/12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5431536"/>
            <a:ext cx="16733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Aptos"/>
              </a:rPr>
              <a:t>Source packages currently staged for local-first operation.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0632" y="4590288"/>
            <a:ext cx="1965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70632" y="4590288"/>
            <a:ext cx="1965960" cy="73152"/>
          </a:xfrm>
          <a:prstGeom prst="rect">
            <a:avLst/>
          </a:prstGeom>
          <a:solidFill>
            <a:srgbClr val="2B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16936" y="4754880"/>
            <a:ext cx="167335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6AD8"/>
                </a:solidFill>
                <a:latin typeface="Aptos"/>
              </a:rPr>
              <a:t>BOOTSTRAP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6936" y="4992624"/>
            <a:ext cx="16733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22136"/>
                </a:solidFill>
                <a:latin typeface="Aptos"/>
              </a:rPr>
              <a:t>39,318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6936" y="5431536"/>
            <a:ext cx="16733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Aptos"/>
              </a:rPr>
              <a:t>PDB records in the fast local planning layer.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82896" y="4590288"/>
            <a:ext cx="1965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82896" y="4590288"/>
            <a:ext cx="1965960" cy="73152"/>
          </a:xfrm>
          <a:prstGeom prst="rect">
            <a:avLst/>
          </a:prstGeom>
          <a:solidFill>
            <a:srgbClr val="EEB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4754880"/>
            <a:ext cx="167335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EB83C"/>
                </a:solidFill>
                <a:latin typeface="Aptos"/>
              </a:rPr>
              <a:t>CANDIDATE POOL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992624"/>
            <a:ext cx="16733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22136"/>
                </a:solidFill>
                <a:latin typeface="Aptos"/>
              </a:rPr>
              <a:t>896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431536"/>
            <a:ext cx="16733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Aptos"/>
              </a:rPr>
              <a:t>Model-ready pairs available for selection.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5160" y="4590288"/>
            <a:ext cx="1965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95160" y="4590288"/>
            <a:ext cx="1965960" cy="73152"/>
          </a:xfrm>
          <a:prstGeom prst="rect">
            <a:avLst/>
          </a:prstGeom>
          <a:solidFill>
            <a:srgbClr val="F4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41464" y="4754880"/>
            <a:ext cx="167335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4748A"/>
                </a:solidFill>
                <a:latin typeface="Aptos"/>
              </a:rPr>
              <a:t>SELECTED 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41464" y="4992624"/>
            <a:ext cx="16733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22136"/>
                </a:solidFill>
                <a:latin typeface="Aptos"/>
              </a:rPr>
              <a:t>500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1464" y="5431536"/>
            <a:ext cx="16733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Aptos"/>
              </a:rPr>
              <a:t>Current curated examples in the active training set.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22136"/>
                </a:solidFill>
                <a:latin typeface="Aptos"/>
              </a:rPr>
              <a:t>Why a different approach is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8755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06B78"/>
                </a:solidFill>
                <a:latin typeface="Aptos"/>
              </a:rPr>
              <a:t>Most biological ML efforts still operate at a scale and workflow maturity that make their conclusions hard to generalize, compare, or reuse.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37360"/>
            <a:ext cx="46634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748A"/>
                </a:solidFill>
                <a:latin typeface="Aptos"/>
              </a:rPr>
              <a:t>Limitations of typical small-scale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Narrow, manually assembled datasets with limited provenance.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Random or shallow splits that leak sequence, family, or assay similarity.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Single-source assumptions that hide conflicts and coverage gaps.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One-off graph or feature designs that do not scale beyond the original experiment.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Tooling that is difficult to inspect, explain, or share with collaborators.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737360"/>
            <a:ext cx="4663440" cy="4297680"/>
          </a:xfrm>
          <a:prstGeom prst="roundRect">
            <a:avLst/>
          </a:prstGeom>
          <a:solidFill>
            <a:srgbClr val="E4F7F5"/>
          </a:solidFill>
          <a:ln w="12700">
            <a:solidFill>
              <a:srgbClr val="12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96596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BFC6"/>
                </a:solidFill>
                <a:latin typeface="Aptos"/>
              </a:rPr>
              <a:t>ProteoSphere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233172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Local-first source packaging with explicit refresh and retention rules.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Canonical planning, identity mapping, and decision-grade field auditing.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Representative subset design plus leakage-resistant split governance.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Multiple graph scopes and model pathways instead of a single narrow architecture.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A GUI that makes the curation and modeling process understandable on screen.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22136"/>
                </a:solidFill>
                <a:latin typeface="Aptos"/>
              </a:rPr>
              <a:t>Pipeline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8755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06B78"/>
                </a:solidFill>
                <a:latin typeface="Aptos"/>
              </a:rPr>
              <a:t>The pipeline is intentionally layered so each stage adds scientific value, provenance, and reusability rather than just producing another flat 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4800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874520"/>
            <a:ext cx="201168" cy="201168"/>
          </a:xfrm>
          <a:prstGeom prst="ellipse">
            <a:avLst/>
          </a:prstGeom>
          <a:solidFill>
            <a:srgbClr val="12B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01368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136"/>
                </a:solidFill>
                <a:latin typeface="Aptos"/>
              </a:rPr>
              <a:t>1. Source packaging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039112"/>
            <a:ext cx="4160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Aptos"/>
              </a:rPr>
              <a:t>Stage broad local snapshots from structural, affinity, annotation, and pathway resources.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91640"/>
            <a:ext cx="4800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5392" y="1874520"/>
            <a:ext cx="201168" cy="201168"/>
          </a:xfrm>
          <a:prstGeom prst="ellipse">
            <a:avLst/>
          </a:prstGeom>
          <a:solidFill>
            <a:srgbClr val="2B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801368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136"/>
                </a:solidFill>
                <a:latin typeface="Aptos"/>
              </a:rPr>
              <a:t>2. Bootstrap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039112"/>
            <a:ext cx="4160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Aptos"/>
              </a:rPr>
              <a:t>Index PDB-level facts for fast selection, coverage review, and targeted refresh planning.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43200"/>
            <a:ext cx="4800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7552" y="2926080"/>
            <a:ext cx="201168" cy="201168"/>
          </a:xfrm>
          <a:prstGeom prst="ellipse">
            <a:avLst/>
          </a:prstGeom>
          <a:solidFill>
            <a:srgbClr val="EEB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852928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136"/>
                </a:solidFill>
                <a:latin typeface="Aptos"/>
              </a:rPr>
              <a:t>3. Extraction + normalization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90672"/>
            <a:ext cx="4160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Aptos"/>
              </a:rPr>
              <a:t>Parse structures, assays, interfaces, and metadata into a coherent local schema.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743200"/>
            <a:ext cx="4800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65392" y="2926080"/>
            <a:ext cx="201168" cy="201168"/>
          </a:xfrm>
          <a:prstGeom prst="ellipse">
            <a:avLst/>
          </a:prstGeom>
          <a:solidFill>
            <a:srgbClr val="F4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852928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136"/>
                </a:solidFill>
                <a:latin typeface="Aptos"/>
              </a:rPr>
              <a:t>4. Screening + field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090672"/>
            <a:ext cx="4160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Aptos"/>
              </a:rPr>
              <a:t>Populate and validate decision-grade fields before they can influence curation policy.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794760"/>
            <a:ext cx="4800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7552" y="3977640"/>
            <a:ext cx="201168" cy="201168"/>
          </a:xfrm>
          <a:prstGeom prst="ellipse">
            <a:avLst/>
          </a:prstGeom>
          <a:solidFill>
            <a:srgbClr val="12B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3904488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136"/>
                </a:solidFill>
                <a:latin typeface="Aptos"/>
              </a:rPr>
              <a:t>5. Training-set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142232"/>
            <a:ext cx="4160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Aptos"/>
              </a:rPr>
              <a:t>Select representative examples while controlling cluster dominance and source bias.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794760"/>
            <a:ext cx="4800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65392" y="3977640"/>
            <a:ext cx="201168" cy="201168"/>
          </a:xfrm>
          <a:prstGeom prst="ellipse">
            <a:avLst/>
          </a:prstGeom>
          <a:solidFill>
            <a:srgbClr val="2B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3904488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136"/>
                </a:solidFill>
                <a:latin typeface="Aptos"/>
              </a:rPr>
              <a:t>6. Split 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42232"/>
            <a:ext cx="4160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Aptos"/>
              </a:rPr>
              <a:t>Build pair-aware, leakage-resistant train/validation/test partitions.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846319"/>
            <a:ext cx="4800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7552" y="5029199"/>
            <a:ext cx="201168" cy="201168"/>
          </a:xfrm>
          <a:prstGeom prst="ellipse">
            <a:avLst/>
          </a:prstGeom>
          <a:solidFill>
            <a:srgbClr val="EEB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4956047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136"/>
                </a:solidFill>
                <a:latin typeface="Aptos"/>
              </a:rPr>
              <a:t>7. Graph + feature packaging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193791"/>
            <a:ext cx="4160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Aptos"/>
              </a:rPr>
              <a:t>Export multiple structural graph designs plus engineered descriptor context.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846319"/>
            <a:ext cx="4800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65392" y="5029199"/>
            <a:ext cx="201168" cy="201168"/>
          </a:xfrm>
          <a:prstGeom prst="ellipse">
            <a:avLst/>
          </a:prstGeom>
          <a:solidFill>
            <a:srgbClr val="F4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4956047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136"/>
                </a:solidFill>
                <a:latin typeface="Aptos"/>
              </a:rPr>
              <a:t>8. Model review + inference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193791"/>
            <a:ext cx="4160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Aptos"/>
              </a:rPr>
              <a:t>Train and compare suitable model paths, then surface explainable predictions.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22136"/>
                </a:solidFill>
                <a:latin typeface="Aptos"/>
              </a:rPr>
              <a:t>Graph and feature design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8755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06B78"/>
                </a:solidFill>
                <a:latin typeface="Aptos"/>
              </a:rPr>
              <a:t>ProteoSphere is designed to support multiple structural representations rather than locking the project into one convenient graph story.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4754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9339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BFC6"/>
                </a:solidFill>
                <a:latin typeface="Aptos"/>
              </a:rPr>
              <a:t>Supported graph design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59152"/>
            <a:ext cx="3840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Whole-protein graphs for global structural context.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Interface-only graphs for contact-driven tasks.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Shell and neighborhood graphs for focused local environments.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Residue-level and atom-level graph constructions.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Protein-ligand, protein-protein, and multimodal packaging.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783080"/>
            <a:ext cx="4754880" cy="4114800"/>
          </a:xfrm>
          <a:prstGeom prst="roundRect">
            <a:avLst/>
          </a:prstGeom>
          <a:solidFill>
            <a:srgbClr val="E4F7F5"/>
          </a:solidFill>
          <a:ln w="12700">
            <a:solidFill>
              <a:srgbClr val="12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99339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B6AD8"/>
                </a:solidFill>
                <a:latin typeface="Aptos"/>
              </a:rP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359152"/>
            <a:ext cx="3749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Different biological questions need different structural neighborhoods.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Graph choice should be a controlled design variable, not an accidental default.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Feature and graph coverage must stay tied to the actual dataset rows.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Packaging should support both scalable baselines and richer graph-native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22136"/>
                </a:solidFill>
                <a:latin typeface="Aptos"/>
              </a:rPr>
              <a:t>Robust training-set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8755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06B78"/>
                </a:solidFill>
                <a:latin typeface="Aptos"/>
              </a:rPr>
              <a:t>The goal is not to maximize row count at any cost. The goal is to build a set that is representative, diverse, auditable, and realistic for downstream evaluation.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737360"/>
            <a:ext cx="1965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1737360"/>
            <a:ext cx="1965960" cy="73152"/>
          </a:xfrm>
          <a:prstGeom prst="rect">
            <a:avLst/>
          </a:prstGeom>
          <a:solidFill>
            <a:srgbClr val="12B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01952"/>
            <a:ext cx="167335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BFC6"/>
                </a:solidFill>
                <a:latin typeface="Aptos"/>
              </a:rPr>
              <a:t>CANDIDATE POOL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39696"/>
            <a:ext cx="16733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22136"/>
                </a:solidFill>
                <a:latin typeface="Aptos"/>
              </a:rPr>
              <a:t>896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78608"/>
            <a:ext cx="16733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Aptos"/>
              </a:rPr>
              <a:t>Model-ready pairs available for selection.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2928" y="1737360"/>
            <a:ext cx="1965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52928" y="1737360"/>
            <a:ext cx="1965960" cy="73152"/>
          </a:xfrm>
          <a:prstGeom prst="rect">
            <a:avLst/>
          </a:prstGeom>
          <a:solidFill>
            <a:srgbClr val="2B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1901952"/>
            <a:ext cx="167335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6AD8"/>
                </a:solidFill>
                <a:latin typeface="Aptos"/>
              </a:rPr>
              <a:t>SELECTED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2139696"/>
            <a:ext cx="16733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22136"/>
                </a:solidFill>
                <a:latin typeface="Aptos"/>
              </a:rPr>
              <a:t>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578608"/>
            <a:ext cx="16733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Aptos"/>
              </a:rPr>
              <a:t>Curated examples in the active training subset.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6048" y="1737360"/>
            <a:ext cx="1965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56048" y="1737360"/>
            <a:ext cx="1965960" cy="73152"/>
          </a:xfrm>
          <a:prstGeom prst="rect">
            <a:avLst/>
          </a:prstGeom>
          <a:solidFill>
            <a:srgbClr val="EEB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02352" y="1901952"/>
            <a:ext cx="167335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EB83C"/>
                </a:solidFill>
                <a:latin typeface="Aptos"/>
              </a:rPr>
              <a:t>CLUSTERS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2139696"/>
            <a:ext cx="16733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22136"/>
                </a:solidFill>
                <a:latin typeface="Aptos"/>
              </a:rPr>
              <a:t>181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2578608"/>
            <a:ext cx="16733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Aptos"/>
              </a:rPr>
              <a:t>Receptor clusters represented in the selected set.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59168" y="1737360"/>
            <a:ext cx="1965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59168" y="1737360"/>
            <a:ext cx="1965960" cy="73152"/>
          </a:xfrm>
          <a:prstGeom prst="rect">
            <a:avLst/>
          </a:prstGeom>
          <a:solidFill>
            <a:srgbClr val="F4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5472" y="1901952"/>
            <a:ext cx="167335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4748A"/>
                </a:solidFill>
                <a:latin typeface="Aptos"/>
              </a:rPr>
              <a:t>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5472" y="2139696"/>
            <a:ext cx="16733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22136"/>
                </a:solidFill>
                <a:latin typeface="Aptos"/>
              </a:rPr>
              <a:t>0.857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5472" y="2578608"/>
            <a:ext cx="16733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Aptos"/>
              </a:rPr>
              <a:t>Mean quality score for selected examples.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" y="3474720"/>
            <a:ext cx="46634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370332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BFC6"/>
                </a:solidFill>
                <a:latin typeface="Aptos"/>
              </a:rPr>
              <a:t>Selection principles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069080"/>
            <a:ext cx="3840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2A31"/>
                </a:solidFill>
                <a:latin typeface="Aptos"/>
              </a:defRPr>
            </a:pPr>
            <a:r>
              <a:t>• Prefer representative coverage over near-duplicate clusters.</a:t>
            </a:r>
          </a:p>
          <a:p>
            <a:pPr>
              <a:spcAft>
                <a:spcPts val="800"/>
              </a:spcAft>
              <a:defRPr sz="1500">
                <a:solidFill>
                  <a:srgbClr val="242A31"/>
                </a:solidFill>
                <a:latin typeface="Aptos"/>
              </a:defRPr>
            </a:pPr>
            <a:r>
              <a:t>• Use explicit quality and provenance signals.</a:t>
            </a:r>
          </a:p>
          <a:p>
            <a:pPr>
              <a:spcAft>
                <a:spcPts val="800"/>
              </a:spcAft>
              <a:defRPr sz="1500">
                <a:solidFill>
                  <a:srgbClr val="242A31"/>
                </a:solidFill>
                <a:latin typeface="Aptos"/>
              </a:defRPr>
            </a:pPr>
            <a:r>
              <a:t>• Keep field-population quality visible before policy decisions are made.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87568" y="3474720"/>
            <a:ext cx="4663440" cy="2240280"/>
          </a:xfrm>
          <a:prstGeom prst="roundRect">
            <a:avLst/>
          </a:prstGeom>
          <a:solidFill>
            <a:srgbClr val="E4F7F5"/>
          </a:solidFill>
          <a:ln w="12700">
            <a:solidFill>
              <a:srgbClr val="12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7024" y="37033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B6AD8"/>
                </a:solidFill>
                <a:latin typeface="Aptos"/>
              </a:rPr>
              <a:t>Current diversity indicators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7024" y="4069080"/>
            <a:ext cx="374903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2A31"/>
                </a:solidFill>
                <a:latin typeface="Aptos"/>
              </a:defRPr>
            </a:pPr>
            <a:r>
              <a:t>• 156 metadata families represented.</a:t>
            </a:r>
          </a:p>
          <a:p>
            <a:pPr>
              <a:spcAft>
                <a:spcPts val="800"/>
              </a:spcAft>
              <a:defRPr sz="1500">
                <a:solidFill>
                  <a:srgbClr val="242A31"/>
                </a:solidFill>
                <a:latin typeface="Aptos"/>
              </a:defRPr>
            </a:pPr>
            <a:r>
              <a:t>• 147 pathway groups represented.</a:t>
            </a:r>
          </a:p>
          <a:p>
            <a:pPr>
              <a:spcAft>
                <a:spcPts val="800"/>
              </a:spcAft>
              <a:defRPr sz="1500">
                <a:solidFill>
                  <a:srgbClr val="242A31"/>
                </a:solidFill>
                <a:latin typeface="Aptos"/>
              </a:defRPr>
            </a:pPr>
            <a:r>
              <a:t>• 111 fold groups represented.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22136"/>
                </a:solidFill>
                <a:latin typeface="Aptos"/>
              </a:rPr>
              <a:t>Leakage-resistant split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8755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06B78"/>
                </a:solidFill>
                <a:latin typeface="Aptos"/>
              </a:rPr>
              <a:t>Train/test splits are treated as a scientific design problem, not a final randomization step.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36576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9339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BFC6"/>
                </a:solidFill>
                <a:latin typeface="Aptos"/>
              </a:rPr>
              <a:t>Split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59152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Pair-aware grouping to keep related pairs together.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Sequence and family-aware grouping instead of naive row splitting.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Mutation-cluster and source effects treated as leakage risks.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Release split assignments kept explicit in the exported tables.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783080"/>
            <a:ext cx="1828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965960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6B78"/>
                </a:solidFill>
                <a:latin typeface="Aptos"/>
              </a:rPr>
              <a:t>Train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2402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22136"/>
                </a:solidFill>
                <a:latin typeface="Aptos"/>
              </a:rPr>
              <a:t>627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783080"/>
            <a:ext cx="1828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965960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6B78"/>
                </a:solidFill>
                <a:latin typeface="Aptos"/>
              </a:rPr>
              <a:t>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2402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22136"/>
                </a:solidFill>
                <a:latin typeface="Aptos"/>
              </a:rPr>
              <a:t>134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1783080"/>
            <a:ext cx="1828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965960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6B78"/>
                </a:solidFill>
                <a:latin typeface="Aptos"/>
              </a:rP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2402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22136"/>
                </a:solidFill>
                <a:latin typeface="Aptos"/>
              </a:rPr>
              <a:t>135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3383280"/>
            <a:ext cx="5852160" cy="2560320"/>
          </a:xfrm>
          <a:prstGeom prst="roundRect">
            <a:avLst/>
          </a:prstGeom>
          <a:solidFill>
            <a:srgbClr val="E4F7F5"/>
          </a:solidFill>
          <a:ln w="12700">
            <a:solidFill>
              <a:srgbClr val="12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361188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B6AD8"/>
                </a:solidFill>
                <a:latin typeface="Aptos"/>
              </a:rPr>
              <a:t>What makes this stronger than typical 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977639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Current strategy: pair_aware_grouped.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The split logic is built to defend against inflated benchmark scores.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The platform keeps the split story visible in both CLI and GUI outputs.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22136"/>
                </a:solidFill>
                <a:latin typeface="Aptos"/>
              </a:rPr>
              <a:t>Model architecture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8755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06B78"/>
                </a:solidFill>
                <a:latin typeface="Aptos"/>
              </a:rPr>
              <a:t>ProteoSphere is not built around a single favorite model. It is built to compare and justify model paths based on the evidence available in the current dataset.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47091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9339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BFC6"/>
                </a:solidFill>
                <a:latin typeface="Aptos"/>
              </a:rPr>
              <a:t>Supported modeling philosophy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59152"/>
            <a:ext cx="38404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Use strong tabular baselines where graph coverage is weak.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Escalate to graph-native or hybrid models when graph coverage justifies it.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Treat recommendation, runtime readiness, and actual training behavior as one consistent system.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Preserve provenance for recommended family, fallback behavior, and saved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1783080"/>
            <a:ext cx="4709160" cy="4160520"/>
          </a:xfrm>
          <a:prstGeom prst="roundRect">
            <a:avLst/>
          </a:prstGeom>
          <a:solidFill>
            <a:srgbClr val="E4F7F5"/>
          </a:solidFill>
          <a:ln w="12700">
            <a:solidFill>
              <a:srgbClr val="12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99339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B6AD8"/>
                </a:solidFill>
                <a:latin typeface="Aptos"/>
              </a:rPr>
              <a:t>Benefits over one-off model studies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359152"/>
            <a:ext cx="37947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Architecture choice is grounded in dataset readiness, not wishful complexity.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Graph, feature, and runtime constraints are surfaced before training starts.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Saved outputs are easier to compare, reload, explain, and communicate.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22136"/>
                </a:solidFill>
                <a:latin typeface="Aptos"/>
              </a:rPr>
              <a:t>Usability and workflow clarity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06B78"/>
                </a:solidFill>
                <a:latin typeface="Aptos"/>
              </a:rPr>
              <a:t>A major advantage of ProteoSphere is that the workflow is visible and explainable to collaborators who are not living inside the codebase.</a:t>
            </a:r>
          </a:p>
        </p:txBody>
      </p:sp>
      <p:pic>
        <p:nvPicPr>
          <p:cNvPr id="4" name="Picture 3" descr="proteosphere_winui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25880"/>
            <a:ext cx="10469880" cy="306098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68680" y="5486400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687568"/>
            <a:ext cx="2834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BFC6"/>
                </a:solidFill>
                <a:latin typeface="Aptos"/>
              </a:rPr>
              <a:t>Guided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907024"/>
            <a:ext cx="2788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Aptos"/>
              </a:rPr>
              <a:t>Clear next-step guidance across data, models, inference, and outputs.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3672" y="5486400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6552" y="5687568"/>
            <a:ext cx="2834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B6AD8"/>
                </a:solidFill>
                <a:latin typeface="Aptos"/>
              </a:rPr>
              <a:t>Platform literacy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5907024"/>
            <a:ext cx="2788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Aptos"/>
              </a:rPr>
              <a:t>The interface explains the pipeline rather than hiding it behind scripts.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98664" y="5486400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81544" y="5687568"/>
            <a:ext cx="2834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748A"/>
                </a:solidFill>
                <a:latin typeface="Aptos"/>
              </a:rPr>
              <a:t>Research 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5907024"/>
            <a:ext cx="2788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Aptos"/>
              </a:rPr>
              <a:t>Makes it easier to walk collaborators through methods, assumptions, and outputs.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22136"/>
                </a:solidFill>
                <a:latin typeface="Aptos"/>
              </a:rPr>
              <a:t>Why this approach is stronger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8755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06B78"/>
                </a:solidFill>
                <a:latin typeface="Aptos"/>
              </a:rPr>
              <a:t>ProteoSphere is designed to produce work that is broader, more reproducible, and easier to trust than the usual narrow-study pipeline.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4480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93392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748A"/>
                </a:solidFill>
                <a:latin typeface="Aptos"/>
              </a:rPr>
              <a:t>Typical small-scale effort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59152"/>
            <a:ext cx="3657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Small hand-built dataset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Limited source coverage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Weak provenance and conflict handling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Random or weakly governed splits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One graph or feature design treated as universal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Difficult to present or reuse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1783080"/>
            <a:ext cx="4663440" cy="4251960"/>
          </a:xfrm>
          <a:prstGeom prst="roundRect">
            <a:avLst/>
          </a:prstGeom>
          <a:solidFill>
            <a:srgbClr val="E4F7F5"/>
          </a:solidFill>
          <a:ln w="12700">
            <a:solidFill>
              <a:srgbClr val="12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199339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BFC6"/>
                </a:solidFill>
                <a:latin typeface="Aptos"/>
              </a:rPr>
              <a:t>ProteoSphere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359152"/>
            <a:ext cx="3840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12 staged source families with local-first packaging.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39,318 PDB records in the planning layer.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Decision-grade field audit before policy use.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Representative subset design and explicit split governance.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Multiple graph designs and architecture paths.</a:t>
            </a:r>
          </a:p>
          <a:p>
            <a:pPr>
              <a:spcAft>
                <a:spcPts val="800"/>
              </a:spcAft>
              <a:defRPr sz="1600">
                <a:solidFill>
                  <a:srgbClr val="242A31"/>
                </a:solidFill>
                <a:latin typeface="Aptos"/>
              </a:defRPr>
            </a:pPr>
            <a:r>
              <a:t>• GUI-driven workflow built for research communication.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40680"/>
            <a:ext cx="12191695" cy="1417320"/>
          </a:xfrm>
          <a:prstGeom prst="rect">
            <a:avLst/>
          </a:prstGeom>
          <a:solidFill>
            <a:srgbClr val="12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2BFC6"/>
                </a:solidFill>
                <a:latin typeface="Aptos"/>
              </a:rPr>
              <a:t>ProteoSphere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875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22136"/>
                </a:solidFill>
                <a:latin typeface="Aptos"/>
              </a:rPr>
              <a:t>A local-first platform for moving protein interaction ML from narrow, fragile studies toward scalable, reproducible, and explainable scientific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06B78"/>
                </a:solidFill>
                <a:latin typeface="Aptos"/>
              </a:rPr>
              <a:t>Core promise: broader source integration, stronger dataset governance, richer graph design, honest model selection, and a workflow that collaborators can actually follow.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ProteoSphere | protein intelligence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