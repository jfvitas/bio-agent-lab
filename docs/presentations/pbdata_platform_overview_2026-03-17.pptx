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de310x150Logo.scale-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468880" cy="1194619"/>
          </a:xfrm>
          <a:prstGeom prst="rect">
            <a:avLst/>
          </a:prstGeom>
        </p:spPr>
      </p:pic>
      <p:pic>
        <p:nvPicPr>
          <p:cNvPr id="4" name="Picture 3" descr="Square150x150Logo.scale-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0292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41732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BFC6"/>
                </a:solidFill>
                <a:latin typeface="Aptos"/>
              </a:rPr>
              <a:t>pbdata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9601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38"/>
                </a:solidFill>
                <a:latin typeface="Aptos"/>
              </a:rPr>
              <a:t>Protein Binding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795527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86676"/>
                </a:solidFill>
                <a:latin typeface="Aptos"/>
              </a:rPr>
              <a:t>A local-first biological data platform for curating representative protein interaction datasets, building leakage-resistant training splits, and presenting model decisions through a polished desktop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709160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709160"/>
            <a:ext cx="1965960" cy="73152"/>
          </a:xfrm>
          <a:prstGeom prst="rect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73752"/>
            <a:ext cx="16367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BFC6"/>
                </a:solidFill>
                <a:latin typeface="Aptos"/>
              </a:rPr>
              <a:t>READY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48072"/>
            <a:ext cx="16367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338"/>
                </a:solidFill>
                <a:latin typeface="Aptos"/>
              </a:rPr>
              <a:t>12/12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6367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676"/>
                </a:solidFill>
                <a:latin typeface="Aptos"/>
              </a:rPr>
              <a:t>Local source packages staged for bootstrap and enrichment.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4709160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4709160"/>
            <a:ext cx="1965960" cy="73152"/>
          </a:xfrm>
          <a:prstGeom prst="rect">
            <a:avLst/>
          </a:prstGeom>
          <a:solidFill>
            <a:srgbClr val="44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4873752"/>
            <a:ext cx="16367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481EB"/>
                </a:solidFill>
                <a:latin typeface="Aptos"/>
              </a:rPr>
              <a:t>BOOTSTRAP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5148072"/>
            <a:ext cx="16367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338"/>
                </a:solidFill>
                <a:latin typeface="Aptos"/>
              </a:rPr>
              <a:t>39,318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5577840"/>
            <a:ext cx="16367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676"/>
                </a:solidFill>
                <a:latin typeface="Aptos"/>
              </a:rPr>
              <a:t>PDB-level facts indexed in the fast local planning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19472" y="4709160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9472" y="4709160"/>
            <a:ext cx="1965960" cy="73152"/>
          </a:xfrm>
          <a:prstGeom prst="rect">
            <a:avLst/>
          </a:prstGeom>
          <a:solidFill>
            <a:srgbClr val="E8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4873752"/>
            <a:ext cx="16367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B33A"/>
                </a:solidFill>
                <a:latin typeface="Aptos"/>
              </a:rPr>
              <a:t>CANDIDATE POOL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5148072"/>
            <a:ext cx="16367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338"/>
                </a:solidFill>
                <a:latin typeface="Aptos"/>
              </a:rPr>
              <a:t>896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5577840"/>
            <a:ext cx="16367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676"/>
                </a:solidFill>
                <a:latin typeface="Aptos"/>
              </a:rPr>
              <a:t>Model-ready binding pairs available for selection and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0024" y="4709160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50024" y="4709160"/>
            <a:ext cx="1965960" cy="73152"/>
          </a:xfrm>
          <a:prstGeom prst="rect">
            <a:avLst/>
          </a:prstGeom>
          <a:solidFill>
            <a:srgbClr val="F77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14616" y="4873752"/>
            <a:ext cx="16367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7758E"/>
                </a:solidFill>
                <a:latin typeface="Aptos"/>
              </a:rPr>
              <a:t>SELECTED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5148072"/>
            <a:ext cx="16367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338"/>
                </a:solidFill>
                <a:latin typeface="Aptos"/>
              </a:rPr>
              <a:t>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5577840"/>
            <a:ext cx="16367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676"/>
                </a:solidFill>
                <a:latin typeface="Aptos"/>
              </a:rPr>
              <a:t>Current curated training subset built from live workspace artifacts.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676"/>
                </a:solidFill>
                <a:latin typeface="Aptos"/>
              </a:rPr>
              <a:t>Prepared for external overview sharing | March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38"/>
                </a:solidFill>
                <a:latin typeface="Aptos"/>
              </a:rPr>
              <a:t>Why this project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86676"/>
                </a:solidFill>
                <a:latin typeface="Aptos"/>
              </a:rPr>
              <a:t>Protein interaction ML pipelines often fail because the data layer is too narrow, too opaque, or too easy to leak across train and test.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32461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Common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Data are fragmented across structures, affinity tables, domain resources, and pathway context.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Train/test splits overestimate model quality because near-duplicates leak across folds.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Source provenance and conflict handling are rarely visible enough for scientific review.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Most tools are script-heavy and hard to walk through with collaborators.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783080"/>
            <a:ext cx="32461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481EB"/>
                </a:solidFill>
                <a:latin typeface="Aptos"/>
              </a:rPr>
              <a:t>Project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2316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Local-first source packaging and refresh planning instead of ad hoc API dependence.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Canonical entity resolution across proteins, ligands, and pair identities.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Decision-grade field auditing so empty columns never silently drive policy.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A GUI that explains the workflow rather than hiding it behind scripts.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246120" cy="4114800"/>
          </a:xfrm>
          <a:prstGeom prst="roundRect">
            <a:avLst/>
          </a:prstGeom>
          <a:solidFill>
            <a:srgbClr val="E2F6F4"/>
          </a:solidFill>
          <a:ln w="12700"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Research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423160"/>
            <a:ext cx="2697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Build datasets that are easier to trust, inspect, reproduce, and extend.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Support multiple interaction types, graph designs, and model families.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Make the path from curation to modeling visible to scientific collaborators.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38"/>
                </a:solidFill>
                <a:latin typeface="Aptos"/>
              </a:rPr>
              <a:t>Design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86676"/>
                </a:solidFill>
                <a:latin typeface="Aptos"/>
              </a:rPr>
              <a:t>The platform is designed as a local-first system of cooperating layers rather than a single monolithic dataset script.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9875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" y="1947672"/>
            <a:ext cx="164592" cy="164592"/>
          </a:xfrm>
          <a:prstGeom prst="ellipse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01952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38"/>
                </a:solidFill>
                <a:latin typeface="Aptos"/>
              </a:rPr>
              <a:t>Source 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901952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6676"/>
                </a:solidFill>
                <a:latin typeface="Aptos"/>
              </a:rPr>
              <a:t>Bulk snapshots, manifests, freshness rules, targeted refresh.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50592"/>
            <a:ext cx="9875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69464"/>
            <a:ext cx="164592" cy="164592"/>
          </a:xfrm>
          <a:prstGeom prst="ellipse">
            <a:avLst/>
          </a:prstGeom>
          <a:solidFill>
            <a:srgbClr val="44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523744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38"/>
                </a:solidFill>
                <a:latin typeface="Aptos"/>
              </a:rPr>
              <a:t>Canonical planning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523744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6676"/>
                </a:solidFill>
                <a:latin typeface="Aptos"/>
              </a:rPr>
              <a:t>Bootstrap store for fast PDB-level planning and source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72384"/>
            <a:ext cx="9875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191256"/>
            <a:ext cx="164592" cy="164592"/>
          </a:xfrm>
          <a:prstGeom prst="ellipse">
            <a:avLst/>
          </a:prstGeom>
          <a:solidFill>
            <a:srgbClr val="E8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145536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38"/>
                </a:solidFill>
                <a:latin typeface="Aptos"/>
              </a:rPr>
              <a:t>Curation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145536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6676"/>
                </a:solidFill>
                <a:latin typeface="Aptos"/>
              </a:rPr>
              <a:t>Representative candidate selection, auditing, and policy gates.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94176"/>
            <a:ext cx="9875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813048"/>
            <a:ext cx="164592" cy="164592"/>
          </a:xfrm>
          <a:prstGeom prst="ellipse">
            <a:avLst/>
          </a:prstGeom>
          <a:solidFill>
            <a:srgbClr val="F77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767328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38"/>
                </a:solidFill>
                <a:latin typeface="Aptos"/>
              </a:rPr>
              <a:t>Leakage-resistant splits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767328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6676"/>
                </a:solidFill>
                <a:latin typeface="Aptos"/>
              </a:rPr>
              <a:t>Pair-aware grouping, sequence/family-aware governance, release tracking.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315968"/>
            <a:ext cx="9875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3272" y="4434840"/>
            <a:ext cx="164592" cy="164592"/>
          </a:xfrm>
          <a:prstGeom prst="ellipse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389120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38"/>
                </a:solidFill>
                <a:latin typeface="Aptos"/>
              </a:rPr>
              <a:t>Graph + model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389120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6676"/>
                </a:solidFill>
                <a:latin typeface="Aptos"/>
              </a:rPr>
              <a:t>Multiple graph scopes and honest model-family/runtime selection.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937760"/>
            <a:ext cx="9875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2" y="5056632"/>
            <a:ext cx="164592" cy="164592"/>
          </a:xfrm>
          <a:prstGeom prst="ellipse">
            <a:avLst/>
          </a:prstGeom>
          <a:solidFill>
            <a:srgbClr val="44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010912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38"/>
                </a:solidFill>
                <a:latin typeface="Aptos"/>
              </a:rPr>
              <a:t>WinUI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010912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6676"/>
                </a:solidFill>
                <a:latin typeface="Aptos"/>
              </a:rPr>
              <a:t>A polished shell for walkthroughs, decision review, and next-step guidance.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080760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338"/>
                </a:solidFill>
                <a:latin typeface="Aptos"/>
              </a:rPr>
              <a:t>Key principle: demo/presentation state and live functional state should be visually polished, but never confused with one another.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38"/>
                </a:solidFill>
                <a:latin typeface="Aptos"/>
              </a:rPr>
              <a:t>Local-first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86676"/>
                </a:solidFill>
                <a:latin typeface="Aptos"/>
              </a:rPr>
              <a:t>The current workspace is structured around pre-populated local source packages, a canonical bootstrap store, and targeted refresh only where it adds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057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057400" cy="73152"/>
          </a:xfrm>
          <a:prstGeom prst="rect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17282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BFC6"/>
                </a:solidFill>
                <a:latin typeface="Aptos"/>
              </a:rPr>
              <a:t>TRACKED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17282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338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06040"/>
            <a:ext cx="17282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676"/>
                </a:solidFill>
                <a:latin typeface="Aptos"/>
              </a:rPr>
              <a:t>Major local source families currently staged.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737360"/>
            <a:ext cx="2057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737360"/>
            <a:ext cx="2057400" cy="73152"/>
          </a:xfrm>
          <a:prstGeom prst="rect">
            <a:avLst/>
          </a:prstGeom>
          <a:solidFill>
            <a:srgbClr val="44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1901952"/>
            <a:ext cx="17282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481EB"/>
                </a:solidFill>
                <a:latin typeface="Aptos"/>
              </a:rPr>
              <a:t>READY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76272"/>
            <a:ext cx="17282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338"/>
                </a:solidFill>
                <a:latin typeface="Aptos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606040"/>
            <a:ext cx="17282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676"/>
                </a:solidFill>
                <a:latin typeface="Aptos"/>
              </a:rPr>
              <a:t>Sources with local assets ready for wiring and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737360"/>
            <a:ext cx="2057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737360"/>
            <a:ext cx="2057400" cy="73152"/>
          </a:xfrm>
          <a:prstGeom prst="rect">
            <a:avLst/>
          </a:prstGeom>
          <a:solidFill>
            <a:srgbClr val="E8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1901952"/>
            <a:ext cx="17282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B33A"/>
                </a:solidFill>
                <a:latin typeface="Aptos"/>
              </a:rPr>
              <a:t>BOOTSTRAP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2176272"/>
            <a:ext cx="17282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338"/>
                </a:solidFill>
                <a:latin typeface="Aptos"/>
              </a:rPr>
              <a:t>39,318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606040"/>
            <a:ext cx="17282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676"/>
                </a:solidFill>
                <a:latin typeface="Aptos"/>
              </a:rPr>
              <a:t>Indexed PDB entries available for fast planning.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73736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737360"/>
            <a:ext cx="2743200" cy="73152"/>
          </a:xfrm>
          <a:prstGeom prst="rect">
            <a:avLst/>
          </a:prstGeom>
          <a:solidFill>
            <a:srgbClr val="F77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1901952"/>
            <a:ext cx="2414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7758E"/>
                </a:solidFill>
                <a:latin typeface="Aptos"/>
              </a:rPr>
              <a:t>REFRESH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176272"/>
            <a:ext cx="2414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338"/>
                </a:solidFill>
                <a:latin typeface="Aptos"/>
              </a:rPr>
              <a:t>Targeted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606040"/>
            <a:ext cx="24140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676"/>
                </a:solidFill>
                <a:latin typeface="Aptos"/>
              </a:rPr>
              <a:t>Broad initial population, then refresh only selected PDB IDs.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429000"/>
            <a:ext cx="9601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6576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338"/>
                </a:solidFill>
                <a:latin typeface="Aptos"/>
              </a:rPr>
              <a:t>Staged source categories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160520"/>
            <a:ext cx="4389120" cy="502920"/>
          </a:xfrm>
          <a:prstGeom prst="roundRect">
            <a:avLst/>
          </a:prstGeom>
          <a:solidFill>
            <a:srgbClr val="EAF0F6"/>
          </a:solidFill>
          <a:ln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23367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BFC6"/>
                </a:solidFill>
                <a:latin typeface="Aptos"/>
              </a:rPr>
              <a:t>Structures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2336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72E"/>
                </a:solidFill>
                <a:latin typeface="Aptos"/>
              </a:rPr>
              <a:t>RCSB PDB, PDBbind, BioLiP, AlphaFold 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4160520"/>
            <a:ext cx="4389120" cy="502920"/>
          </a:xfrm>
          <a:prstGeom prst="roundRect">
            <a:avLst/>
          </a:prstGeom>
          <a:solidFill>
            <a:srgbClr val="EAF0F6"/>
          </a:solidFill>
          <a:ln>
            <a:solidFill>
              <a:srgbClr val="448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423367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481EB"/>
                </a:solidFill>
                <a:latin typeface="Aptos"/>
              </a:rPr>
              <a:t>Affinity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2336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72E"/>
                </a:solidFill>
                <a:latin typeface="Aptos"/>
              </a:rPr>
              <a:t>BindingDB, ChEMBL, SKEMPI v2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4846320"/>
            <a:ext cx="4389120" cy="502920"/>
          </a:xfrm>
          <a:prstGeom prst="roundRect">
            <a:avLst/>
          </a:prstGeom>
          <a:solidFill>
            <a:srgbClr val="EAF0F6"/>
          </a:solidFill>
          <a:ln>
            <a:solidFill>
              <a:srgbClr val="E8B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491947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B33A"/>
                </a:solidFill>
                <a:latin typeface="Aptos"/>
              </a:rPr>
              <a:t>Protein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9194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72E"/>
                </a:solidFill>
                <a:latin typeface="Aptos"/>
              </a:rPr>
              <a:t>UniProt, InterPro, Pfam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4846320"/>
            <a:ext cx="4389120" cy="502920"/>
          </a:xfrm>
          <a:prstGeom prst="roundRect">
            <a:avLst/>
          </a:prstGeom>
          <a:solidFill>
            <a:srgbClr val="EAF0F6"/>
          </a:solidFill>
          <a:ln>
            <a:solidFill>
              <a:srgbClr val="F77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491947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758E"/>
                </a:solidFill>
                <a:latin typeface="Aptos"/>
              </a:rPr>
              <a:t>Structural classes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9194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72E"/>
                </a:solidFill>
                <a:latin typeface="Aptos"/>
              </a:rPr>
              <a:t>CATH, SCOPe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5532120"/>
            <a:ext cx="4389120" cy="502920"/>
          </a:xfrm>
          <a:prstGeom prst="roundRect">
            <a:avLst/>
          </a:prstGeom>
          <a:solidFill>
            <a:srgbClr val="EAF0F6"/>
          </a:solidFill>
          <a:ln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560527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BFC6"/>
                </a:solidFill>
                <a:latin typeface="Aptos"/>
              </a:rPr>
              <a:t>Pathways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60527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72E"/>
                </a:solidFill>
                <a:latin typeface="Aptos"/>
              </a:rPr>
              <a:t>Reactome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38"/>
                </a:solidFill>
                <a:latin typeface="Aptos"/>
              </a:rPr>
              <a:t>Curation and training-set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86676"/>
                </a:solidFill>
                <a:latin typeface="Aptos"/>
              </a:rPr>
              <a:t>The current workspace now produces real populated exports, a live selected training subset, and split artifacts tied to an explicit governance strategy.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32461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Selection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896 model-ready pairs in the current candidate pool.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500 selected examples in the current curated set.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181 receptor clusters represented.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156 metadata families and 111 fold groups represented.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783080"/>
            <a:ext cx="32461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9659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481EB"/>
                </a:solidFill>
                <a:latin typeface="Aptos"/>
              </a:rPr>
              <a:t>Split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Strategy: pair_aware_grouped.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Train/val/test sizes: 627 / 134 / 135.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Goal is honest generalization, not inflated benchmark scores.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Grouping is designed to reduce family and sequence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783080"/>
            <a:ext cx="2834640" cy="3474720"/>
          </a:xfrm>
          <a:prstGeom prst="roundRect">
            <a:avLst/>
          </a:prstGeom>
          <a:solidFill>
            <a:srgbClr val="E2F6F4"/>
          </a:solidFill>
          <a:ln w="12700"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965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Field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Unsafe tracked policy fields: 0.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Restricted advisory-only fields: 5.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Mean selected quality score: 0.857.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Decision-grade fields are now separated from advisory-only narrative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38"/>
                </a:solidFill>
                <a:latin typeface="Aptos"/>
              </a:rPr>
              <a:t>Modeling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86676"/>
                </a:solidFill>
                <a:latin typeface="Aptos"/>
              </a:rPr>
              <a:t>pbdata is built to support multiple graph designs and model paths, while staying honest about what is runnable today versus what remains roadmap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45720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Graph design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3931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Whole-protein, interface-only, and shell/neighborhood graphs.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Residue-level and atom-level graph constructions.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Protein-ligand, protein-protein, and multimodal graph exports.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Packaging for graph-aware training without collapsing to a single 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737360"/>
            <a:ext cx="45720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9659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481EB"/>
                </a:solidFill>
                <a:latin typeface="Aptos"/>
              </a:rPr>
              <a:t>Model Studio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331720"/>
            <a:ext cx="3840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Recommend models from real workspace evidence instead of fixed heuristics.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Surface runtime readiness and backend fallbacks clearly.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Tie training runs to explicit execution strategy and provenance.</a:t>
            </a:r>
          </a:p>
          <a:p>
            <a:pPr>
              <a:spcAft>
                <a:spcPts val="800"/>
              </a:spcAft>
              <a:defRPr sz="1600">
                <a:solidFill>
                  <a:srgbClr val="23272E"/>
                </a:solidFill>
                <a:latin typeface="Aptos"/>
              </a:defRPr>
            </a:pPr>
            <a:r>
              <a:t>• Use the GUI to review architecture tradeoffs, training evidence, and saved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38"/>
                </a:solidFill>
                <a:latin typeface="Aptos"/>
              </a:rPr>
              <a:t>WinUI presentation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86676"/>
                </a:solidFill>
                <a:latin typeface="Aptos"/>
              </a:rPr>
              <a:t>The desktop experience is designed to present the platform clearly: guided workflow, local-first data foundation, dataset design, model review, inference, and outputs.</a:t>
            </a:r>
          </a:p>
        </p:txBody>
      </p:sp>
      <p:pic>
        <p:nvPicPr>
          <p:cNvPr id="4" name="Picture 3" descr="pbdata_winui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378440" cy="54270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38"/>
                </a:solidFill>
                <a:latin typeface="Aptos"/>
              </a:rPr>
              <a:t>Near-term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86676"/>
                </a:solidFill>
                <a:latin typeface="Aptos"/>
              </a:rPr>
              <a:t>The platform is now demonstrable. The next phase is about deepening functional truthfulness and expanding scientific coverage.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06324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Data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72E"/>
                </a:solidFill>
                <a:latin typeface="Aptos"/>
              </a:defRPr>
            </a:pPr>
            <a:r>
              <a:t>• Complete more bulk/local ingestion paths from staged sources.</a:t>
            </a:r>
          </a:p>
          <a:p>
            <a:pPr>
              <a:spcAft>
                <a:spcPts val="800"/>
              </a:spcAft>
              <a:defRPr sz="1500">
                <a:solidFill>
                  <a:srgbClr val="23272E"/>
                </a:solidFill>
                <a:latin typeface="Aptos"/>
              </a:defRPr>
            </a:pPr>
            <a:r>
              <a:t>• Keep bootstrap summaries lightweight enough for GitHub distribution.</a:t>
            </a:r>
          </a:p>
          <a:p>
            <a:pPr>
              <a:spcAft>
                <a:spcPts val="800"/>
              </a:spcAft>
              <a:defRPr sz="1500">
                <a:solidFill>
                  <a:srgbClr val="23272E"/>
                </a:solidFill>
                <a:latin typeface="Aptos"/>
              </a:defRPr>
            </a:pPr>
            <a:r>
              <a:t>• Continue explicit freshness, retention, and deletion rules per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06324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481EB"/>
                </a:solidFill>
                <a:latin typeface="Aptos"/>
              </a:rPr>
              <a:t>Dataset rigor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72E"/>
                </a:solidFill>
                <a:latin typeface="Aptos"/>
              </a:defRPr>
            </a:pPr>
            <a:r>
              <a:t>• Keep improving split diagnostics and leakage-aware grouping.</a:t>
            </a:r>
          </a:p>
          <a:p>
            <a:pPr>
              <a:spcAft>
                <a:spcPts val="800"/>
              </a:spcAft>
              <a:defRPr sz="1500">
                <a:solidFill>
                  <a:srgbClr val="23272E"/>
                </a:solidFill>
                <a:latin typeface="Aptos"/>
              </a:defRPr>
            </a:pPr>
            <a:r>
              <a:t>• Expand metadata breadth and source diversity in the selected set.</a:t>
            </a:r>
          </a:p>
          <a:p>
            <a:pPr>
              <a:spcAft>
                <a:spcPts val="800"/>
              </a:spcAft>
              <a:defRPr sz="1500">
                <a:solidFill>
                  <a:srgbClr val="23272E"/>
                </a:solidFill>
                <a:latin typeface="Aptos"/>
              </a:defRPr>
            </a:pPr>
            <a:r>
              <a:t>• Maintain decision-grade field auditing as the corpus grows.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828800"/>
            <a:ext cx="306324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B33A"/>
                </a:solidFill>
                <a:latin typeface="Aptos"/>
              </a:rPr>
              <a:t>Modeling +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72E"/>
                </a:solidFill>
                <a:latin typeface="Aptos"/>
              </a:defRPr>
            </a:pPr>
            <a:r>
              <a:t>• Strengthen graph-backed training coverage and evaluation depth.</a:t>
            </a:r>
          </a:p>
          <a:p>
            <a:pPr>
              <a:spcAft>
                <a:spcPts val="800"/>
              </a:spcAft>
              <a:defRPr sz="1500">
                <a:solidFill>
                  <a:srgbClr val="23272E"/>
                </a:solidFill>
                <a:latin typeface="Aptos"/>
              </a:defRPr>
            </a:pPr>
            <a:r>
              <a:t>• Keep the WinUI shell polished for presentations and truthful in functional mode.</a:t>
            </a:r>
          </a:p>
          <a:p>
            <a:pPr>
              <a:spcAft>
                <a:spcPts val="800"/>
              </a:spcAft>
              <a:defRPr sz="1500">
                <a:solidFill>
                  <a:srgbClr val="23272E"/>
                </a:solidFill>
                <a:latin typeface="Aptos"/>
              </a:defRPr>
            </a:pPr>
            <a:r>
              <a:t>• Turn current platform maturity into a repeatable external-ready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338"/>
                </a:solidFill>
                <a:latin typeface="Aptos"/>
              </a:rPr>
              <a:t>Collaboration angle: this is positioned as a research platform for reproducible curation, robust dataset assembly, and interpretable downstream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